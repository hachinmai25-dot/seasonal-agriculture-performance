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1"/>
  </p:notesMasterIdLst>
  <p:handoutMasterIdLst>
    <p:handoutMasterId r:id="rId22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4" r:id="rId11"/>
    <p:sldId id="340" r:id="rId12"/>
    <p:sldId id="345" r:id="rId13"/>
    <p:sldId id="346" r:id="rId14"/>
    <p:sldId id="347" r:id="rId15"/>
    <p:sldId id="348" r:id="rId16"/>
    <p:sldId id="341" r:id="rId17"/>
    <p:sldId id="342" r:id="rId18"/>
    <p:sldId id="343" r:id="rId19"/>
    <p:sldId id="30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chinmai25-dot/seasonal-agriculture-performance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315" y="4117163"/>
            <a:ext cx="6194749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Chinmai H A</a:t>
            </a:r>
          </a:p>
          <a:p>
            <a:r>
              <a:rPr lang="en-US" b="0" dirty="0">
                <a:solidFill>
                  <a:schemeClr val="tx1"/>
                </a:solidFill>
              </a:rPr>
              <a:t>Jawaharlal Nehru National College Of Engineering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315" y="2844750"/>
            <a:ext cx="5424769" cy="743448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759932" y="6170981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252315" y="4978660"/>
            <a:ext cx="387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STU696848f0938c9176844209</a:t>
            </a:r>
            <a:r>
              <a:rPr lang="en-IN" dirty="0"/>
              <a:t>6</a:t>
            </a:r>
            <a:endParaRPr lang="en-US" dirty="0"/>
          </a:p>
          <a:p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E0F2D-EDDA-DD58-2175-433285A9301C}"/>
              </a:ext>
            </a:extLst>
          </p:cNvPr>
          <p:cNvSpPr txBox="1"/>
          <p:nvPr/>
        </p:nvSpPr>
        <p:spPr>
          <a:xfrm>
            <a:off x="2903057" y="2891801"/>
            <a:ext cx="6548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SEASONAL AGRICULTURE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2102230"/>
            <a:ext cx="7277766" cy="360798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IN" sz="2800" dirty="0"/>
              <a:t>Agricultural performance varies across seasons due to differences in:</a:t>
            </a:r>
          </a:p>
          <a:p>
            <a:pPr lvl="0"/>
            <a:r>
              <a:rPr lang="en-IN" sz="2800" dirty="0"/>
              <a:t>Environmental conditions </a:t>
            </a:r>
          </a:p>
          <a:p>
            <a:pPr lvl="0"/>
            <a:r>
              <a:rPr lang="en-IN" sz="2800" dirty="0"/>
              <a:t>Farming practices </a:t>
            </a:r>
          </a:p>
          <a:p>
            <a:pPr lvl="0"/>
            <a:r>
              <a:rPr lang="en-IN" sz="2800" dirty="0"/>
              <a:t>Resource availability </a:t>
            </a:r>
          </a:p>
          <a:p>
            <a:pPr lvl="0"/>
            <a:r>
              <a:rPr lang="en-IN" sz="2800" dirty="0"/>
              <a:t>Agricultural activities </a:t>
            </a:r>
          </a:p>
          <a:p>
            <a:pPr lvl="0"/>
            <a:r>
              <a:rPr lang="en-IN" sz="2800" dirty="0"/>
              <a:t>Market conditions </a:t>
            </a:r>
          </a:p>
          <a:p>
            <a:pPr marL="0" indent="0">
              <a:buNone/>
            </a:pPr>
            <a:r>
              <a:rPr lang="en-IN" sz="2800" dirty="0"/>
              <a:t>However, raw agricultural data does not clearly reveal these seasonal patterns.</a:t>
            </a:r>
          </a:p>
          <a:p>
            <a:pPr>
              <a:lnSpc>
                <a:spcPct val="10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29AB8C-9C14-445E-921C-20E535A7BD35}"/>
              </a:ext>
            </a:extLst>
          </p:cNvPr>
          <p:cNvSpPr txBox="1"/>
          <p:nvPr/>
        </p:nvSpPr>
        <p:spPr>
          <a:xfrm>
            <a:off x="660399" y="2025831"/>
            <a:ext cx="94425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project analyses agricultural data across </a:t>
            </a:r>
            <a:r>
              <a:rPr lang="en-IN" b="1" dirty="0"/>
              <a:t>Kharif, Rabi and Zaid seasons</a:t>
            </a:r>
            <a:r>
              <a:rPr lang="en-IN" dirty="0"/>
              <a:t> to understand differences in agricultural performance.</a:t>
            </a:r>
          </a:p>
          <a:p>
            <a:endParaRPr lang="en-IN" dirty="0"/>
          </a:p>
          <a:p>
            <a:r>
              <a:rPr lang="en-IN" dirty="0"/>
              <a:t>The analysis focuses on: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Crop yield and production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Water usage and water efficiency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Revenue and profit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Environmental conditions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Disease and pest risk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Regional and crop-level variations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Python-based data analytics techniques were used for </a:t>
            </a:r>
            <a:r>
              <a:rPr lang="en-IN" b="1" dirty="0"/>
              <a:t>data cleaning, exploratory analysis, visualization, correlation analysis and seasonal comparison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3600" b="1" dirty="0"/>
              <a:t>Farmers-</a:t>
            </a:r>
          </a:p>
          <a:p>
            <a:pPr marL="0" indent="0">
              <a:buNone/>
            </a:pPr>
            <a:r>
              <a:rPr lang="en-IN" sz="3600" dirty="0"/>
              <a:t>To understand seasonal performance and resource usage.</a:t>
            </a:r>
          </a:p>
          <a:p>
            <a:pPr marL="0" indent="0">
              <a:buNone/>
            </a:pPr>
            <a:r>
              <a:rPr lang="en-IN" sz="3600" b="1" dirty="0"/>
              <a:t>Agricultural Departments-</a:t>
            </a:r>
          </a:p>
          <a:p>
            <a:pPr marL="0" indent="0">
              <a:buNone/>
            </a:pPr>
            <a:r>
              <a:rPr lang="en-IN" sz="3600" dirty="0"/>
              <a:t>To support seasonal planning and resource management.</a:t>
            </a:r>
          </a:p>
          <a:p>
            <a:pPr marL="0" indent="0">
              <a:buNone/>
            </a:pPr>
            <a:r>
              <a:rPr lang="en-IN" sz="3600" b="1" dirty="0"/>
              <a:t>Agricultural Researchers-</a:t>
            </a:r>
          </a:p>
          <a:p>
            <a:pPr marL="0" indent="0">
              <a:buNone/>
            </a:pPr>
            <a:r>
              <a:rPr lang="en-IN" sz="3600" dirty="0"/>
              <a:t>To identify patterns and relationships in agricultural data.</a:t>
            </a:r>
          </a:p>
          <a:p>
            <a:pPr marL="0" indent="0">
              <a:buNone/>
            </a:pPr>
            <a:r>
              <a:rPr lang="en-IN" sz="3600" b="1" dirty="0"/>
              <a:t>Data Analysts-</a:t>
            </a:r>
          </a:p>
          <a:p>
            <a:pPr marL="0" indent="0">
              <a:buNone/>
            </a:pPr>
            <a:r>
              <a:rPr lang="en-IN" sz="3600" dirty="0"/>
              <a:t>Analyse agricultural trends and performance indicators.</a:t>
            </a:r>
          </a:p>
          <a:p>
            <a:pPr marL="0" indent="0">
              <a:buNone/>
            </a:pPr>
            <a:r>
              <a:rPr lang="en-IN" sz="3600" b="1" dirty="0"/>
              <a:t> Agricultural Planners-</a:t>
            </a:r>
          </a:p>
          <a:p>
            <a:pPr marL="0" indent="0">
              <a:buNone/>
            </a:pPr>
            <a:r>
              <a:rPr lang="en-IN" sz="3600" dirty="0"/>
              <a:t>To support evidence-based seasonal decision-making.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6C0ED3-E10D-4C81-831C-7A90070B6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256864"/>
              </p:ext>
            </p:extLst>
          </p:nvPr>
        </p:nvGraphicFramePr>
        <p:xfrm>
          <a:off x="1586203" y="1432560"/>
          <a:ext cx="5831632" cy="4823723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2915816">
                  <a:extLst>
                    <a:ext uri="{9D8B030D-6E8A-4147-A177-3AD203B41FA5}">
                      <a16:colId xmlns:a16="http://schemas.microsoft.com/office/drawing/2014/main" val="710460505"/>
                    </a:ext>
                  </a:extLst>
                </a:gridCol>
                <a:gridCol w="2915816">
                  <a:extLst>
                    <a:ext uri="{9D8B030D-6E8A-4147-A177-3AD203B41FA5}">
                      <a16:colId xmlns:a16="http://schemas.microsoft.com/office/drawing/2014/main" val="1836174616"/>
                    </a:ext>
                  </a:extLst>
                </a:gridCol>
              </a:tblGrid>
              <a:tr h="480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7738927"/>
                  </a:ext>
                </a:extLst>
              </a:tr>
              <a:tr h="480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🐍 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8412300"/>
                  </a:ext>
                </a:extLst>
              </a:tr>
              <a:tr h="480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🐼 Pandas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manipulation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612747"/>
                  </a:ext>
                </a:extLst>
              </a:tr>
              <a:tr h="480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🔢 NumPy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Numerical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7509688"/>
                  </a:ext>
                </a:extLst>
              </a:tr>
              <a:tr h="480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📊 Matplotlib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7494989"/>
                  </a:ext>
                </a:extLst>
              </a:tr>
              <a:tr h="480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📈 Seaborn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Statistical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361046"/>
                  </a:ext>
                </a:extLst>
              </a:tr>
              <a:tr h="480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📐 SciPy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Statistical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5051030"/>
                  </a:ext>
                </a:extLst>
              </a:tr>
              <a:tr h="728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📓 Google Collab / Jupyter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Notebook-based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2689025"/>
                  </a:ext>
                </a:extLst>
              </a:tr>
              <a:tr h="728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💻 GitHub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Project and notebook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7511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70589"/>
            <a:ext cx="11457992" cy="830997"/>
          </a:xfrm>
        </p:spPr>
        <p:txBody>
          <a:bodyPr>
            <a:normAutofit/>
          </a:bodyPr>
          <a:lstStyle/>
          <a:p>
            <a:r>
              <a:rPr lang="en-GB" dirty="0"/>
              <a:t>RESULTS: </a:t>
            </a:r>
            <a:r>
              <a:rPr lang="en-IN" sz="3600" dirty="0"/>
              <a:t>Overall Seasonal Performance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52535D-9904-4497-795B-A788B0A1D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97" y="1201585"/>
            <a:ext cx="11614493" cy="546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589"/>
            <a:ext cx="12419045" cy="830997"/>
          </a:xfrm>
        </p:spPr>
        <p:txBody>
          <a:bodyPr>
            <a:normAutofit/>
          </a:bodyPr>
          <a:lstStyle/>
          <a:p>
            <a:r>
              <a:rPr lang="en-GB" dirty="0"/>
              <a:t>RESULTS-</a:t>
            </a:r>
            <a:r>
              <a:rPr lang="en-IN" sz="3200" dirty="0"/>
              <a:t>Seasonal</a:t>
            </a:r>
            <a:r>
              <a:rPr lang="en-IN" sz="3600" dirty="0"/>
              <a:t> </a:t>
            </a:r>
            <a:r>
              <a:rPr lang="en-IN" sz="3200" dirty="0"/>
              <a:t>Performance Comparison</a:t>
            </a:r>
            <a:r>
              <a:rPr lang="en-GB" sz="3200" dirty="0"/>
              <a:t> </a:t>
            </a:r>
            <a:endParaRPr lang="en-IN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9922" y="1534328"/>
            <a:ext cx="8896674" cy="4633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Key Observations</a:t>
            </a:r>
            <a:endParaRPr lang="en-IN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N" b="1" dirty="0"/>
              <a:t>Yield:</a:t>
            </a:r>
            <a:r>
              <a:rPr lang="en-IN" dirty="0"/>
              <a:t> Kharif shows a higher central tendency than Rabi and Zaid.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b="1" dirty="0"/>
              <a:t>Profit:</a:t>
            </a:r>
            <a:r>
              <a:rPr lang="en-IN" dirty="0"/>
              <a:t> Kharif generally shows stronger profit performance, while Rabi and Zaid have lower central values.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b="1" dirty="0"/>
              <a:t>Water Usage:</a:t>
            </a:r>
            <a:r>
              <a:rPr lang="en-IN" dirty="0"/>
              <a:t> Water consumption varies across seasons, with substantial variation and many high-value observations.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b="1" dirty="0"/>
              <a:t>Water Efficiency:</a:t>
            </a:r>
            <a:r>
              <a:rPr lang="en-IN" dirty="0"/>
              <a:t> Seasonal distributions are similar at the central level but contain several high-efficiency observations.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b="1" dirty="0"/>
              <a:t>Disease &amp; Pest Risk:</a:t>
            </a:r>
            <a:r>
              <a:rPr lang="en-IN" dirty="0"/>
              <a:t> Kharif has the highest central risk level among the three seasons.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b="1" dirty="0"/>
              <a:t>Revenue:</a:t>
            </a:r>
            <a:r>
              <a:rPr lang="en-IN" dirty="0"/>
              <a:t> Kharif shows the highest central revenue, with considerable variation across observations.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7693"/>
            <a:ext cx="12192000" cy="830997"/>
          </a:xfrm>
        </p:spPr>
        <p:txBody>
          <a:bodyPr>
            <a:normAutofit/>
          </a:bodyPr>
          <a:lstStyle/>
          <a:p>
            <a:r>
              <a:rPr lang="en-GB" dirty="0"/>
              <a:t>RESULTS-</a:t>
            </a:r>
            <a:r>
              <a:rPr lang="en-IN" sz="3600" dirty="0"/>
              <a:t>Regional Analysis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379B5B-E718-E72B-D198-0FBB2DB6C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6" y="1058332"/>
            <a:ext cx="11787042" cy="560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436802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RESULTS-</a:t>
            </a:r>
            <a:r>
              <a:rPr lang="en-IN" sz="3600" dirty="0"/>
              <a:t>Regional Yield Variation</a:t>
            </a:r>
            <a:r>
              <a:rPr lang="en-GB" sz="3600" dirty="0"/>
              <a:t> (Left Graph)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4486" y="1555626"/>
            <a:ext cx="8448803" cy="49317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Key observations</a:t>
            </a:r>
            <a:r>
              <a:rPr lang="en-IN" dirty="0"/>
              <a:t>: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Seasonal performance is </a:t>
            </a:r>
            <a:r>
              <a:rPr lang="en-IN" b="1" dirty="0"/>
              <a:t>not consistent across all states</a:t>
            </a:r>
            <a:r>
              <a:rPr lang="en-IN" dirty="0"/>
              <a:t>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Some states show increased yield during Rabi.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Some states perform better during Zaid.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b="1" dirty="0"/>
              <a:t>Punjab</a:t>
            </a:r>
            <a:r>
              <a:rPr lang="en-IN" dirty="0"/>
              <a:t> shows a strong increase in Rabi yield.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b="1" dirty="0"/>
              <a:t>Karnataka</a:t>
            </a:r>
            <a:r>
              <a:rPr lang="en-IN" dirty="0"/>
              <a:t> shows a notable increase in Zaid yield.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b="1" dirty="0"/>
              <a:t>Maharashtra</a:t>
            </a:r>
            <a:r>
              <a:rPr lang="en-IN" dirty="0"/>
              <a:t> shows a substantial decline in Zaid yield.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This indicates that seasonal performance depends on regional conditions.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37" y="370589"/>
            <a:ext cx="11644604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RESULTS-</a:t>
            </a:r>
            <a:r>
              <a:rPr lang="en-IN" sz="3600" dirty="0"/>
              <a:t>Crop-wise</a:t>
            </a:r>
            <a:r>
              <a:rPr lang="en-IN" sz="4000" dirty="0"/>
              <a:t> </a:t>
            </a:r>
            <a:r>
              <a:rPr lang="en-IN" sz="3600" dirty="0"/>
              <a:t>Yield Comparison(Right Graph)</a:t>
            </a:r>
            <a:r>
              <a:rPr lang="en-GB" sz="3600" dirty="0"/>
              <a:t>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0982" y="1866121"/>
            <a:ext cx="8739044" cy="3716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Key observations:</a:t>
            </a:r>
          </a:p>
          <a:p>
            <a:pPr lvl="0"/>
            <a:r>
              <a:rPr lang="en-IN" dirty="0"/>
              <a:t>Sugarcane has substantially higher mean yield than the other crops. </a:t>
            </a:r>
          </a:p>
          <a:p>
            <a:pPr lvl="0"/>
            <a:r>
              <a:rPr lang="en-IN" dirty="0"/>
              <a:t>Most other crops show relatively smaller seasonal variations. </a:t>
            </a:r>
          </a:p>
          <a:p>
            <a:pPr lvl="0"/>
            <a:r>
              <a:rPr lang="en-IN" dirty="0"/>
              <a:t>Crop performance differs across Kharif, Rabi and Zaid. </a:t>
            </a:r>
          </a:p>
          <a:p>
            <a:pPr lvl="0"/>
            <a:r>
              <a:rPr lang="en-IN" dirty="0"/>
              <a:t>Some crops show a gradual decline across seasons. </a:t>
            </a:r>
          </a:p>
          <a:p>
            <a:pPr lvl="0"/>
            <a:r>
              <a:rPr lang="en-IN" dirty="0"/>
              <a:t>Seasonal patterns are therefore </a:t>
            </a:r>
            <a:r>
              <a:rPr lang="en-IN" b="1" dirty="0"/>
              <a:t>crop-dependent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75386-A0C0-9230-6D92-2D1DD10D1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A8333B-89A9-315C-BC6E-9C17F9576D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C23BD21-D534-A34D-6449-0DBAF8783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37" y="370589"/>
            <a:ext cx="11644604" cy="830997"/>
          </a:xfrm>
        </p:spPr>
        <p:txBody>
          <a:bodyPr>
            <a:normAutofit/>
          </a:bodyPr>
          <a:lstStyle/>
          <a:p>
            <a:r>
              <a:rPr lang="en-GB" dirty="0"/>
              <a:t>RESULTS-</a:t>
            </a:r>
            <a:r>
              <a:rPr lang="en-IN" sz="4000" dirty="0"/>
              <a:t>Environmental Factors</a:t>
            </a:r>
            <a:r>
              <a:rPr lang="en-GB" sz="4000" dirty="0"/>
              <a:t> </a:t>
            </a: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30E7034-A142-6DE6-0970-12DE602AFA2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6F214FF-081A-0B8B-F9B0-95FB7F87135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01D0D0A-97A7-DE37-47D0-3D8CC56A39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0982" y="1866121"/>
            <a:ext cx="8739044" cy="37165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D72BDA-68EA-72DD-3F22-6A25908FE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84" y="1397244"/>
            <a:ext cx="8632530" cy="526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20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729F4-2C08-A12E-2710-C99287E8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7D03DE-B707-E068-3DA9-5F1A3F0BA0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28D078B-F69A-9A39-343E-1F17299CC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37" y="370589"/>
            <a:ext cx="11644604" cy="1318252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RESULTS-</a:t>
            </a:r>
            <a:r>
              <a:rPr lang="en-IN" sz="3600" dirty="0"/>
              <a:t>Environmental Factors &amp; Agricultural Performance</a:t>
            </a:r>
            <a:r>
              <a:rPr lang="en-GB" sz="3600" dirty="0"/>
              <a:t>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5ECE2EB-16BA-1CBC-F2C7-0F96C142B86C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43B9BFF-89EC-6E28-601C-798F81E35478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AD471824-6AB3-002D-660D-2155688CE3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0982" y="2095823"/>
            <a:ext cx="8739044" cy="397840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Correlation analysis was used to examine relationships between environmental variables and agricultural outcomes.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Important observations: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Rainfall shows a </a:t>
            </a:r>
            <a:r>
              <a:rPr lang="en-IN" b="1" dirty="0"/>
              <a:t>positive but weak</a:t>
            </a:r>
            <a:r>
              <a:rPr lang="en-IN" dirty="0"/>
              <a:t> relationship with profit and revenue.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Soil moisture shows a </a:t>
            </a:r>
            <a:r>
              <a:rPr lang="en-IN" b="1" dirty="0"/>
              <a:t>positive relationship</a:t>
            </a:r>
            <a:r>
              <a:rPr lang="en-IN" dirty="0"/>
              <a:t> with profit and revenue.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Disease and pest risk shows a </a:t>
            </a:r>
            <a:r>
              <a:rPr lang="en-IN" b="1" dirty="0"/>
              <a:t>weak positive relationship</a:t>
            </a:r>
            <a:r>
              <a:rPr lang="en-IN" dirty="0"/>
              <a:t> with profit and revenue.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Sunlight hours show a </a:t>
            </a:r>
            <a:r>
              <a:rPr lang="en-IN" b="1" dirty="0"/>
              <a:t>weak negative relationship</a:t>
            </a:r>
            <a:r>
              <a:rPr lang="en-IN" dirty="0"/>
              <a:t> with yield and production.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Most environmental variables have </a:t>
            </a:r>
            <a:r>
              <a:rPr lang="en-IN" b="1" dirty="0"/>
              <a:t>weak correlations</a:t>
            </a:r>
            <a:r>
              <a:rPr lang="en-IN" dirty="0"/>
              <a:t> with agricultural performance.</a:t>
            </a:r>
          </a:p>
          <a:p>
            <a:pPr marL="0" lvl="0" indent="0">
              <a:buNone/>
            </a:pPr>
            <a:r>
              <a:rPr lang="en-IN" dirty="0"/>
              <a:t>Correlation indicates association, not causation.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565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59894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8EF1A7-1A38-6DF3-7637-51BCCDDC0869}"/>
              </a:ext>
            </a:extLst>
          </p:cNvPr>
          <p:cNvSpPr txBox="1"/>
          <p:nvPr/>
        </p:nvSpPr>
        <p:spPr>
          <a:xfrm>
            <a:off x="675957" y="1866123"/>
            <a:ext cx="927980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 Develop machine learning models to predict crop yield.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 Incorporate detailed weather and climate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 Develop models for optimizing water usage.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 Perform more detailed district-level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 Build interactive dashboards for agricultural monitoring.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 Develop models for predicting revenue and profitability.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 Develop early-warning systems for disease and pest risks.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 Create farmer-friendly decision-support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232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hachinmai25-dot/seasonal-agriculture-performance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A1C943-13EF-D240-B49A-28E89828F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76" y="1556343"/>
            <a:ext cx="7549949" cy="501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68963" y="647700"/>
            <a:ext cx="13040963" cy="3089438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1420</TotalTime>
  <Words>642</Words>
  <Application>Microsoft Office PowerPoint</Application>
  <PresentationFormat>Widescreen</PresentationFormat>
  <Paragraphs>108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 </vt:lpstr>
      <vt:lpstr>WHO ARE THE END USERS?</vt:lpstr>
      <vt:lpstr>Technology Used</vt:lpstr>
      <vt:lpstr>RESULTS: Overall Seasonal Performance</vt:lpstr>
      <vt:lpstr>RESULTS-Seasonal Performance Comparison </vt:lpstr>
      <vt:lpstr>RESULTS-Regional Analysis</vt:lpstr>
      <vt:lpstr>RESULTS-Regional Yield Variation (Left Graph)</vt:lpstr>
      <vt:lpstr>RESULTS-Crop-wise Yield Comparison(Right Graph) </vt:lpstr>
      <vt:lpstr>RESULTS-Environmental Factors </vt:lpstr>
      <vt:lpstr>RESULTS-Environmental Factors &amp; Agricultural Performance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Chinmai HA</cp:lastModifiedBy>
  <cp:revision>99</cp:revision>
  <dcterms:created xsi:type="dcterms:W3CDTF">2021-07-11T13:13:15Z</dcterms:created>
  <dcterms:modified xsi:type="dcterms:W3CDTF">2026-09-09T15:29:20Z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